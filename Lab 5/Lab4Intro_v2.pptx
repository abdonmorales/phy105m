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5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0880-D430-AAA6-321B-5B2997CF5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E41BD-8765-10BE-BF77-DBB026DB1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0CACB-1F5F-BF25-ABC2-21CB86E1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517B5-7588-E2FF-B9A8-850B988A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B1E0-4FBF-C5B5-D13F-27F7727C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0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B3D9-F7E3-DECB-437B-80A70D6E5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8665-D1AC-794F-37FD-04B7C3B38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AD0BA-A749-E7BF-37BD-6FEC26DE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A0E95-2107-8651-8625-3A08CD23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87718-D0FC-F141-2F2C-1105A36B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91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C342-3CE6-E790-BA88-92AECDDF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B075A-64D1-F554-66FE-0C258E359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0740A-CC86-5CD8-6B87-51C35BDA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B142-1CEC-4781-C7B4-8A8607EC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EEF9A-66A4-8781-7ACF-231F119C4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53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D40-3BB6-78F2-21B1-7209271C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72490-D569-7D4A-D665-B1359005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B42C0-09A1-238C-88A4-A9F18F529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5AD75-CA0B-FE8D-E3FB-A323513A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32B46-53E3-2B6D-4E3A-EEBC7038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0D485-11D0-23C3-0BD1-F08CF6EF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7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BC47-EC57-88D1-AD12-9A1EDC01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9604-2DBE-AC67-E2FB-F44952925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BC96C-CEDA-34E5-09A8-7466984EF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94010-03A9-90DA-E9ED-9AAC79186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C35AF8-CD8A-D8B8-963D-1D1494B3C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65E5AE-EC74-FD01-A461-965752F6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03C2C-E56D-83FF-5714-9C0F5CD4D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3D1B5A-3239-33F7-90D4-82DE5135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0F646-0BAC-0443-4A05-1A30EBD8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6C9412-4DA1-FA63-B190-119134AA4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2DAB6-BC54-306A-B847-64E9C0D2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7FE1D-8CB7-BA7B-635C-764D34B7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53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BCB074-6BD6-30B7-71D7-78E6AE3A2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C5791-A27C-0250-9096-A90C5BFC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C8A88-117B-83C9-8CAA-E706AEA1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9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91B5-516A-FC59-87AE-EF570DCB8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92239-6628-B3C5-D2AB-160475569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F91D9-CDD2-E34F-4B12-B396AA73E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81F6F-832E-8E6A-197A-1F9B2D3F4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EC5F7-F5F0-9FB4-D943-979BE930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59B2B-C42B-53F9-7982-71A63BC2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92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9EF6-A3CE-55B3-BB0A-30B8F8878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9EFE0-3688-860A-E200-50F03A632B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0A583-2D99-C058-BB11-313587A2C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BC4A2-F03E-EFD1-B952-3D56CAEE7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4E21C-08C4-270E-8940-BF4454BA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00A5B-09C9-33C4-2369-073A021F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8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FFEC-F098-C7A3-66B4-8C5982536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3D465-EA97-C3CE-FDF9-3154AD0C5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3AED6-EDF2-9477-058F-0755E876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85B0-B195-FF70-FF4A-157D28CA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94CB9-E5C4-C52F-6632-D1CA23A0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10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0B567-4074-5805-B5E6-2FE97A661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448BC-2BA7-F626-617D-633E440FD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4F4DD-88EE-DA08-0844-B9B8DFD6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61D5B-1ED2-2527-A81D-706CAD0C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1C06B-2D66-C37E-8253-51B5F13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2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1D5E0-631C-F970-21DD-37D150D8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ED6A1-2ABD-ACA5-5CAC-FF464CEE1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A55EB-BB5B-06CE-A721-B064B4AFD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43F3D-2BB9-4A64-836E-EDD219B8CE45}" type="datetimeFigureOut">
              <a:rPr lang="en-US" smtClean="0"/>
              <a:t>3/19/2024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A8D4-6E6D-6210-E226-B04C8E74E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A4A18-1FCB-ED6B-3E5A-0EAF0A501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BD103-E816-4E8B-A382-FE7813503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9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1723"/>
            <a:ext cx="10515600" cy="1325563"/>
          </a:xfrm>
        </p:spPr>
        <p:txBody>
          <a:bodyPr/>
          <a:lstStyle/>
          <a:p>
            <a:r>
              <a:rPr lang="en-US" dirty="0"/>
              <a:t>While Waiting to begin: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B853C03-C457-E670-EBD5-1C4A0C319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BD13A-E817-8936-68C6-2EA768C1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509" y="1983471"/>
            <a:ext cx="1923855" cy="2067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9115BB-13A2-7C8B-F5DA-AE621E40E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090" y="975298"/>
            <a:ext cx="6857707" cy="3255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C0F41D-FB4C-C306-B194-38ECEF685E18}"/>
              </a:ext>
            </a:extLst>
          </p:cNvPr>
          <p:cNvSpPr txBox="1"/>
          <p:nvPr/>
        </p:nvSpPr>
        <p:spPr>
          <a:xfrm>
            <a:off x="500711" y="4249132"/>
            <a:ext cx="41946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1. Open Audacity:</a:t>
            </a:r>
          </a:p>
          <a:p>
            <a:pPr algn="ctr"/>
            <a:r>
              <a:rPr lang="en-US" sz="2800" dirty="0"/>
              <a:t>Found on computer, not 105 folder!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9A5238-95CA-62F3-8A0B-1D7391582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337" y="2291803"/>
            <a:ext cx="1486107" cy="1371791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1D6C2A-0DB3-7EBF-B2DC-948FACC84B1F}"/>
              </a:ext>
            </a:extLst>
          </p:cNvPr>
          <p:cNvCxnSpPr>
            <a:stCxn id="15" idx="3"/>
          </p:cNvCxnSpPr>
          <p:nvPr/>
        </p:nvCxnSpPr>
        <p:spPr>
          <a:xfrm flipV="1">
            <a:off x="2072444" y="2977698"/>
            <a:ext cx="6990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B928B2E-D8F7-AA83-52D3-51992E18394C}"/>
              </a:ext>
            </a:extLst>
          </p:cNvPr>
          <p:cNvSpPr txBox="1"/>
          <p:nvPr/>
        </p:nvSpPr>
        <p:spPr>
          <a:xfrm>
            <a:off x="6095999" y="4380362"/>
            <a:ext cx="54392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2. Make sure your mic is on, connected to the computer, and selected as the recording device!</a:t>
            </a:r>
          </a:p>
        </p:txBody>
      </p:sp>
    </p:spTree>
    <p:extLst>
      <p:ext uri="{BB962C8B-B14F-4D97-AF65-F5344CB8AC3E}">
        <p14:creationId xmlns:p14="http://schemas.microsoft.com/office/powerpoint/2010/main" val="3327499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1F25-DB34-B1D7-7146-A68238941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74" y="253231"/>
            <a:ext cx="11760452" cy="1901494"/>
          </a:xfrm>
        </p:spPr>
        <p:txBody>
          <a:bodyPr/>
          <a:lstStyle/>
          <a:p>
            <a:r>
              <a:rPr lang="en-US" dirty="0"/>
              <a:t>Lab 4:Physics and Physiology of Sound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65741-514A-6C28-9252-754CE9CE5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4725"/>
            <a:ext cx="12192000" cy="38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2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Sound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Sound: </a:t>
            </a:r>
            <a:r>
              <a:rPr lang="en-US" dirty="0"/>
              <a:t>mechanical vibration, e.g. density/pressure oscillations in air, seismic vibrations of the earth, oscillations of a plucked string.</a:t>
            </a:r>
          </a:p>
          <a:p>
            <a:r>
              <a:rPr lang="en-US" b="1" dirty="0"/>
              <a:t>Properties:</a:t>
            </a:r>
            <a:r>
              <a:rPr lang="en-US" dirty="0"/>
              <a:t> Sound waves have an intensity (loudness), frequency (pitch), wavelength, and propagation speed.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75539-A71B-1325-A189-641C58D5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46" y="3920151"/>
            <a:ext cx="6789005" cy="23282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/>
              <p:nvPr/>
            </p:nvSpPr>
            <p:spPr>
              <a:xfrm>
                <a:off x="8428776" y="4001294"/>
                <a:ext cx="2398477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776" y="4001294"/>
                <a:ext cx="2398477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0E2F7-3347-D0CA-3EC9-E4A0FEB3078D}"/>
                  </a:ext>
                </a:extLst>
              </p:cNvPr>
              <p:cNvSpPr txBox="1"/>
              <p:nvPr/>
            </p:nvSpPr>
            <p:spPr>
              <a:xfrm>
                <a:off x="3048755" y="3246597"/>
                <a:ext cx="6097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0E2F7-3347-D0CA-3EC9-E4A0FEB3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55" y="3246597"/>
                <a:ext cx="60975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9F11D-1734-F8A5-7045-95E2027EB86A}"/>
                  </a:ext>
                </a:extLst>
              </p:cNvPr>
              <p:cNvSpPr txBox="1"/>
              <p:nvPr/>
            </p:nvSpPr>
            <p:spPr>
              <a:xfrm>
                <a:off x="6356090" y="5170951"/>
                <a:ext cx="6097508" cy="7991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𝑎𝑖𝑟</m:t>
                          </m:r>
                        </m:sub>
                      </m:sSub>
                      <m:r>
                        <a:rPr kumimoji="0" lang="en-US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≈344 </m:t>
                      </m:r>
                      <m:r>
                        <a:rPr kumimoji="0" lang="en-US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r>
                        <a:rPr kumimoji="0" lang="en-US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/</m:t>
                      </m:r>
                      <m:r>
                        <a:rPr kumimoji="0" lang="en-US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9F11D-1734-F8A5-7045-95E2027EB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090" y="5170951"/>
                <a:ext cx="6097508" cy="7991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59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Sound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1690688"/>
            <a:ext cx="11651810" cy="4486275"/>
          </a:xfrm>
        </p:spPr>
        <p:txBody>
          <a:bodyPr/>
          <a:lstStyle/>
          <a:p>
            <a:r>
              <a:rPr lang="en-US" b="1" dirty="0"/>
              <a:t>Waves on a String: </a:t>
            </a:r>
            <a:r>
              <a:rPr lang="en-US" dirty="0"/>
              <a:t>For fixed endpoints, we have a fixed set of wavelengths, and the sound speed can be calculated from tension/mass</a:t>
            </a:r>
          </a:p>
          <a:p>
            <a:r>
              <a:rPr lang="en-US" b="1" dirty="0"/>
              <a:t>Harmonics:</a:t>
            </a:r>
            <a:r>
              <a:rPr lang="en-US" dirty="0"/>
              <a:t> When a string is plucked, all harmonics play are excited but typically the fundamental frequency is the loudest!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/>
              <p:nvPr/>
            </p:nvSpPr>
            <p:spPr>
              <a:xfrm>
                <a:off x="8453310" y="3458048"/>
                <a:ext cx="279352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𝑓𝐿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310" y="3458048"/>
                <a:ext cx="2793522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0E2F7-3347-D0CA-3EC9-E4A0FEB3078D}"/>
                  </a:ext>
                </a:extLst>
              </p:cNvPr>
              <p:cNvSpPr txBox="1"/>
              <p:nvPr/>
            </p:nvSpPr>
            <p:spPr>
              <a:xfrm>
                <a:off x="3048755" y="3246597"/>
                <a:ext cx="6097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0E2F7-3347-D0CA-3EC9-E4A0FEB3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55" y="3246597"/>
                <a:ext cx="60975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9F11D-1734-F8A5-7045-95E2027EB86A}"/>
                  </a:ext>
                </a:extLst>
              </p:cNvPr>
              <p:cNvSpPr txBox="1"/>
              <p:nvPr/>
            </p:nvSpPr>
            <p:spPr>
              <a:xfrm>
                <a:off x="6727283" y="4500496"/>
                <a:ext cx="6097508" cy="2092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kumimoji="0" lang="en-US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0" lang="en-US" sz="4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4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num>
                            <m:den>
                              <m:r>
                                <a:rPr kumimoji="0" lang="en-US" sz="4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9F11D-1734-F8A5-7045-95E2027EB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283" y="4500496"/>
                <a:ext cx="6097508" cy="20928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922540A-334A-8560-59CB-48C871F37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661" y="3390591"/>
            <a:ext cx="4547810" cy="19096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0C658C-2ED6-94B8-4116-B78C9FAF9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609" y="5222148"/>
            <a:ext cx="4946566" cy="150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1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Sound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1690688"/>
            <a:ext cx="11651810" cy="4486275"/>
          </a:xfrm>
        </p:spPr>
        <p:txBody>
          <a:bodyPr/>
          <a:lstStyle/>
          <a:p>
            <a:r>
              <a:rPr lang="en-US" b="1" dirty="0"/>
              <a:t>Spectrum: </a:t>
            </a:r>
            <a:r>
              <a:rPr lang="en-US" dirty="0"/>
              <a:t>A plot of intensity vs. frequency is called </a:t>
            </a:r>
            <a:r>
              <a:rPr lang="en-US" i="1" dirty="0"/>
              <a:t>spectrum</a:t>
            </a:r>
            <a:r>
              <a:rPr lang="en-US" dirty="0"/>
              <a:t>.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/>
              <p:nvPr/>
            </p:nvSpPr>
            <p:spPr>
              <a:xfrm>
                <a:off x="4587480" y="5661878"/>
                <a:ext cx="298979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480" y="5661878"/>
                <a:ext cx="2989793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oup of colored wires&#10;&#10;Description automatically generated">
            <a:extLst>
              <a:ext uri="{FF2B5EF4-FFF2-40B4-BE49-F238E27FC236}">
                <a16:creationId xmlns:a16="http://schemas.microsoft.com/office/drawing/2014/main" id="{5AEBB332-134A-93F5-DB23-FC1A991F6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57" y="2761307"/>
            <a:ext cx="6693625" cy="2900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58A837-9385-4353-96E2-BD03DDD81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013" y="2358949"/>
            <a:ext cx="4410787" cy="3302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FEAF2B-13C6-7A21-00D4-AC852A1BD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881" y="2691246"/>
            <a:ext cx="600159" cy="5144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8655B7-344E-EBF5-38A2-BF776B494A80}"/>
                  </a:ext>
                </a:extLst>
              </p:cNvPr>
              <p:cNvSpPr txBox="1"/>
              <p:nvPr/>
            </p:nvSpPr>
            <p:spPr>
              <a:xfrm>
                <a:off x="4903206" y="2358949"/>
                <a:ext cx="609750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5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5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sz="5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8655B7-344E-EBF5-38A2-BF776B494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206" y="2358949"/>
                <a:ext cx="6097508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4071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1: Sound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1690688"/>
            <a:ext cx="11651810" cy="4486275"/>
          </a:xfrm>
        </p:spPr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Pick two strings and measure their “sound speeds” and compare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What are some ways to do this?</a:t>
            </a:r>
            <a:endParaRPr lang="en-US" dirty="0"/>
          </a:p>
          <a:p>
            <a:r>
              <a:rPr lang="en-US" b="1" dirty="0"/>
              <a:t>Conclusion: </a:t>
            </a:r>
            <a:r>
              <a:rPr lang="en-US" dirty="0"/>
              <a:t>Check the tension and/or mass density and compare (quick check)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/>
              <p:nvPr/>
            </p:nvSpPr>
            <p:spPr>
              <a:xfrm>
                <a:off x="8453310" y="3458048"/>
                <a:ext cx="2793522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𝑓𝐿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27256-70DF-4B15-32DC-FE19F2D5E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3310" y="3458048"/>
                <a:ext cx="2793522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0E2F7-3347-D0CA-3EC9-E4A0FEB3078D}"/>
                  </a:ext>
                </a:extLst>
              </p:cNvPr>
              <p:cNvSpPr txBox="1"/>
              <p:nvPr/>
            </p:nvSpPr>
            <p:spPr>
              <a:xfrm>
                <a:off x="3048755" y="3246597"/>
                <a:ext cx="609750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0E2F7-3347-D0CA-3EC9-E4A0FEB3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55" y="3246597"/>
                <a:ext cx="609750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9F11D-1734-F8A5-7045-95E2027EB86A}"/>
                  </a:ext>
                </a:extLst>
              </p:cNvPr>
              <p:cNvSpPr txBox="1"/>
              <p:nvPr/>
            </p:nvSpPr>
            <p:spPr>
              <a:xfrm>
                <a:off x="6727283" y="4500496"/>
                <a:ext cx="6097508" cy="2092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</m:t>
                          </m:r>
                        </m:sub>
                      </m:sSub>
                      <m:r>
                        <a:rPr kumimoji="0" lang="en-US" sz="4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sz="4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0" lang="en-US" sz="4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4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num>
                            <m:den>
                              <m:r>
                                <a:rPr kumimoji="0" lang="en-US" sz="4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9F11D-1734-F8A5-7045-95E2027EB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283" y="4500496"/>
                <a:ext cx="6097508" cy="20928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922540A-334A-8560-59CB-48C871F37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4661" y="3390591"/>
            <a:ext cx="4547810" cy="19096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0C658C-2ED6-94B8-4116-B78C9FAF9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609" y="5222148"/>
            <a:ext cx="4946566" cy="150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31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1093509"/>
            <a:ext cx="11543167" cy="5399365"/>
          </a:xfrm>
        </p:spPr>
        <p:txBody>
          <a:bodyPr>
            <a:normAutofit/>
          </a:bodyPr>
          <a:lstStyle/>
          <a:p>
            <a:r>
              <a:rPr lang="en-US" b="1" dirty="0"/>
              <a:t>Configure Microphones</a:t>
            </a:r>
          </a:p>
          <a:p>
            <a:r>
              <a:rPr lang="en-US" b="1" dirty="0"/>
              <a:t>Open Audacity</a:t>
            </a:r>
          </a:p>
          <a:p>
            <a:r>
              <a:rPr lang="en-US" b="1" dirty="0"/>
              <a:t>Click Record:</a:t>
            </a:r>
          </a:p>
          <a:p>
            <a:r>
              <a:rPr lang="en-US" b="1" dirty="0"/>
              <a:t>Do you </a:t>
            </a:r>
            <a:r>
              <a:rPr lang="en-US" b="1" i="1" dirty="0"/>
              <a:t>perceive</a:t>
            </a:r>
            <a:r>
              <a:rPr lang="en-US" b="1" dirty="0"/>
              <a:t> it as equally loud at all frequencies?</a:t>
            </a:r>
          </a:p>
          <a:p>
            <a:r>
              <a:rPr lang="en-US" b="1" dirty="0"/>
              <a:t>Plot Spectrum: Is it </a:t>
            </a:r>
            <a:r>
              <a:rPr lang="en-US" b="1" i="1" dirty="0"/>
              <a:t>detected</a:t>
            </a:r>
            <a:r>
              <a:rPr lang="en-US" b="1" dirty="0"/>
              <a:t> that way?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1723"/>
            <a:ext cx="10515600" cy="1325563"/>
          </a:xfrm>
        </p:spPr>
        <p:txBody>
          <a:bodyPr/>
          <a:lstStyle/>
          <a:p>
            <a:r>
              <a:rPr lang="en-US" dirty="0"/>
              <a:t>Measuring Frequency using Audacity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B853C03-C457-E670-EBD5-1C4A0C319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659F4-68CC-BF09-C50D-A32369471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403" y="1476167"/>
            <a:ext cx="5145949" cy="1135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C2F758-F64B-2BB7-CB0F-ED5CBEF8D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536" y="3726772"/>
            <a:ext cx="5145949" cy="30580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A1B317-0132-3387-0B2E-EFC238AEB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377" y="3157452"/>
            <a:ext cx="3952911" cy="3627413"/>
          </a:xfrm>
          <a:prstGeom prst="rect">
            <a:avLst/>
          </a:prstGeom>
        </p:spPr>
      </p:pic>
      <p:pic>
        <p:nvPicPr>
          <p:cNvPr id="4" name="DemoFile">
            <a:hlinkClick r:id="" action="ppaction://media"/>
            <a:extLst>
              <a:ext uri="{FF2B5EF4-FFF2-40B4-BE49-F238E27FC236}">
                <a16:creationId xmlns:a16="http://schemas.microsoft.com/office/drawing/2014/main" id="{58AD78B8-A66C-11E2-4A2D-385B742396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9853257" y="1193840"/>
            <a:ext cx="1671620" cy="167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73C5FE-EE56-14C0-4FA7-91F05F9A6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50" y="3142274"/>
            <a:ext cx="5876950" cy="3207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Sound Perception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6" y="1690688"/>
            <a:ext cx="6464174" cy="51673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Perception: </a:t>
            </a:r>
            <a:r>
              <a:rPr lang="en-US" dirty="0"/>
              <a:t>Distinct from physical stimulus</a:t>
            </a:r>
          </a:p>
          <a:p>
            <a:r>
              <a:rPr lang="en-US" b="1" dirty="0"/>
              <a:t>Units: </a:t>
            </a:r>
            <a:r>
              <a:rPr lang="en-US" dirty="0"/>
              <a:t>Often have associated units, for Example the Decibel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But why logarithmic???????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B853C03-C457-E670-EBD5-1C4A0C319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4" name="Picture 4" descr="Noise | Sound levels and their relevance | IOSH">
            <a:extLst>
              <a:ext uri="{FF2B5EF4-FFF2-40B4-BE49-F238E27FC236}">
                <a16:creationId xmlns:a16="http://schemas.microsoft.com/office/drawing/2014/main" id="{3679E942-2139-CC26-5B23-2E2593F60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529" y="1539089"/>
            <a:ext cx="5856499" cy="463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37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1690688"/>
            <a:ext cx="11543167" cy="2066500"/>
          </a:xfrm>
        </p:spPr>
        <p:txBody>
          <a:bodyPr>
            <a:normAutofit/>
          </a:bodyPr>
          <a:lstStyle/>
          <a:p>
            <a:r>
              <a:rPr lang="en-US" b="1" dirty="0"/>
              <a:t>Weber-Fechner Law: “</a:t>
            </a:r>
            <a:r>
              <a:rPr lang="en-US" dirty="0"/>
              <a:t>Quasi-universal” logarithmic relation</a:t>
            </a:r>
          </a:p>
          <a:p>
            <a:r>
              <a:rPr lang="en-US" b="1" dirty="0"/>
              <a:t>Examples: </a:t>
            </a:r>
            <a:r>
              <a:rPr lang="en-US" dirty="0"/>
              <a:t>Loudness/brightness, weight perception (pressure), and pitch(?)</a:t>
            </a:r>
          </a:p>
          <a:p>
            <a:r>
              <a:rPr lang="en-US" b="1" dirty="0"/>
              <a:t>Context</a:t>
            </a:r>
            <a:r>
              <a:rPr lang="en-US" dirty="0"/>
              <a:t>: Origin and accuracy subject of current study (psychophysics, critical brain hypothesis)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Sound Perception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B853C03-C457-E670-EBD5-1C4A0C319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CE4BDA-0553-44FA-92B6-90DF7D3CB6AA}"/>
                  </a:ext>
                </a:extLst>
              </p:cNvPr>
              <p:cNvSpPr txBox="1"/>
              <p:nvPr/>
            </p:nvSpPr>
            <p:spPr>
              <a:xfrm>
                <a:off x="1774480" y="4407999"/>
                <a:ext cx="3648178" cy="1390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8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CE4BDA-0553-44FA-92B6-90DF7D3C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480" y="4407999"/>
                <a:ext cx="3648178" cy="13901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83A3586-A0FA-A73D-F5BA-17FCFC2A6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30" y="3539696"/>
            <a:ext cx="4112452" cy="312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55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34A3AC-F12F-E8E1-B207-4282783FA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656360"/>
            <a:ext cx="6201640" cy="62016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1690687"/>
            <a:ext cx="5590515" cy="4990769"/>
          </a:xfrm>
        </p:spPr>
        <p:txBody>
          <a:bodyPr>
            <a:normAutofit/>
          </a:bodyPr>
          <a:lstStyle/>
          <a:p>
            <a:r>
              <a:rPr lang="en-US" b="1" dirty="0"/>
              <a:t>Goal: </a:t>
            </a:r>
            <a:r>
              <a:rPr lang="en-US" dirty="0"/>
              <a:t>Compare data with linear and WF Law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How would we test this?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		       OR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26" y="419100"/>
            <a:ext cx="10515600" cy="1325563"/>
          </a:xfrm>
        </p:spPr>
        <p:txBody>
          <a:bodyPr/>
          <a:lstStyle/>
          <a:p>
            <a:r>
              <a:rPr lang="en-US" dirty="0"/>
              <a:t>Part 2: Sound Perception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B853C03-C457-E670-EBD5-1C4A0C319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CE4BDA-0553-44FA-92B6-90DF7D3CB6AA}"/>
                  </a:ext>
                </a:extLst>
              </p:cNvPr>
              <p:cNvSpPr txBox="1"/>
              <p:nvPr/>
            </p:nvSpPr>
            <p:spPr>
              <a:xfrm>
                <a:off x="353085" y="5082751"/>
                <a:ext cx="4684167" cy="15338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𝑊𝐹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48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sSub>
                            <m:sSub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CE4BDA-0553-44FA-92B6-90DF7D3C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85" y="5082751"/>
                <a:ext cx="4684167" cy="15338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06B661-112A-BA18-F50F-D597B19F35DC}"/>
                  </a:ext>
                </a:extLst>
              </p:cNvPr>
              <p:cNvSpPr txBox="1"/>
              <p:nvPr/>
            </p:nvSpPr>
            <p:spPr>
              <a:xfrm>
                <a:off x="353085" y="3429000"/>
                <a:ext cx="4975721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𝑊𝐹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06B661-112A-BA18-F50F-D597B19F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85" y="3429000"/>
                <a:ext cx="4975721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32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1B-92A3-90FB-C2FA-0928623CC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950614"/>
            <a:ext cx="11543167" cy="2806574"/>
          </a:xfrm>
        </p:spPr>
        <p:txBody>
          <a:bodyPr>
            <a:normAutofit/>
          </a:bodyPr>
          <a:lstStyle/>
          <a:p>
            <a:r>
              <a:rPr lang="en-US" b="1" dirty="0"/>
              <a:t>Consequence of Weber-Fechner Law: </a:t>
            </a:r>
            <a:r>
              <a:rPr lang="en-US" dirty="0"/>
              <a:t>Incremental small changes in loudness become exponentially large in intensity! Hearing damage can happen fast!</a:t>
            </a:r>
          </a:p>
          <a:p>
            <a:r>
              <a:rPr lang="en-US" b="1" dirty="0"/>
              <a:t>Free Hearing Exam</a:t>
            </a:r>
            <a:r>
              <a:rPr lang="en-US" dirty="0"/>
              <a:t>: And +3/30 extra credit points for completion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21907-0A3D-0AD3-AAD8-434D4AE5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Extra Credit: Sound Perception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B853C03-C457-E670-EBD5-1C4A0C319B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Noise | Sound levels and their relevance | IOSH">
            <a:extLst>
              <a:ext uri="{FF2B5EF4-FFF2-40B4-BE49-F238E27FC236}">
                <a16:creationId xmlns:a16="http://schemas.microsoft.com/office/drawing/2014/main" id="{CB15164E-0C9F-6087-34FB-411A4CC1F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373" y="2723938"/>
            <a:ext cx="4955906" cy="392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8AEC9D-BD4F-FB08-10E2-2D3A2973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21" y="2636697"/>
            <a:ext cx="5930035" cy="392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52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439</Words>
  <Application>Microsoft Office PowerPoint</Application>
  <PresentationFormat>Widescreen</PresentationFormat>
  <Paragraphs>97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While Waiting to begin:</vt:lpstr>
      <vt:lpstr>Lab 4:Physics and Physiology of Sound</vt:lpstr>
      <vt:lpstr>Part 1: Sound Physics</vt:lpstr>
      <vt:lpstr>Part 1: Sound Physics</vt:lpstr>
      <vt:lpstr>Part 1: Sound Physics</vt:lpstr>
      <vt:lpstr>Part 1: Sound Physics</vt:lpstr>
      <vt:lpstr>Measuring Frequency using Audacity</vt:lpstr>
      <vt:lpstr>Part 2: Sound Perception</vt:lpstr>
      <vt:lpstr>Part 2: Sound Perception</vt:lpstr>
      <vt:lpstr>Part 2: Sound Perception</vt:lpstr>
      <vt:lpstr>Extra Credit: Sound Perception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4:Physics and Physiology of Sound</dc:title>
  <dc:creator>Loveridge, Andrew J</dc:creator>
  <cp:lastModifiedBy>Andrew Loveridge</cp:lastModifiedBy>
  <cp:revision>23</cp:revision>
  <dcterms:created xsi:type="dcterms:W3CDTF">2023-10-12T23:00:09Z</dcterms:created>
  <dcterms:modified xsi:type="dcterms:W3CDTF">2024-03-19T23:23:02Z</dcterms:modified>
</cp:coreProperties>
</file>