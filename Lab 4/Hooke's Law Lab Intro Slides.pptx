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4"/>
    <p:restoredTop sz="96018"/>
  </p:normalViewPr>
  <p:slideViewPr>
    <p:cSldViewPr snapToGrid="0" snapToObjects="1">
      <p:cViewPr varScale="1">
        <p:scale>
          <a:sx n="85" d="100"/>
          <a:sy n="8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8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8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66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1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9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0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3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8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888EF-0255-7E42-BABB-509B773BE288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0B689-8541-8941-ADB3-BEF4B551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0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Hooke’s Law Lab Intro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1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980" y="297997"/>
            <a:ext cx="9399270" cy="986651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Hooke’s Law</a:t>
            </a:r>
            <a:endParaRPr lang="en-US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3120" y="1433015"/>
            <a:ext cx="5865817" cy="1821294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the force F required to displace a material is linearly proportional to the resulting displacement x.</a:t>
            </a:r>
          </a:p>
          <a:p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the constant of proportionality k quantifies the stiffness of the material 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08326" y="595956"/>
                <a:ext cx="14253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𝑘𝑥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26" y="595956"/>
                <a:ext cx="1425327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822960" y="1441057"/>
            <a:ext cx="4377690" cy="5358523"/>
            <a:chOff x="2083916" y="754441"/>
            <a:chExt cx="4834021" cy="5917096"/>
          </a:xfrm>
        </p:grpSpPr>
        <p:grpSp>
          <p:nvGrpSpPr>
            <p:cNvPr id="8" name="Group 7"/>
            <p:cNvGrpSpPr/>
            <p:nvPr/>
          </p:nvGrpSpPr>
          <p:grpSpPr>
            <a:xfrm>
              <a:off x="2083916" y="754441"/>
              <a:ext cx="4834021" cy="5917096"/>
              <a:chOff x="3352800" y="0"/>
              <a:chExt cx="5602701" cy="6858000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52800" y="0"/>
                <a:ext cx="5470594" cy="6858000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6771350" y="3781863"/>
                <a:ext cx="2184151" cy="472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elastic material</a:t>
                </a:r>
                <a:endParaRPr lang="en-US" dirty="0"/>
              </a:p>
            </p:txBody>
          </p:sp>
          <p:sp>
            <p:nvSpPr>
              <p:cNvPr id="13" name="Right Brace 12"/>
              <p:cNvSpPr/>
              <p:nvPr/>
            </p:nvSpPr>
            <p:spPr>
              <a:xfrm>
                <a:off x="6692348" y="3631096"/>
                <a:ext cx="145774" cy="861391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Up Arrow 8"/>
            <p:cNvSpPr/>
            <p:nvPr/>
          </p:nvSpPr>
          <p:spPr>
            <a:xfrm>
              <a:off x="4537380" y="3099021"/>
              <a:ext cx="331397" cy="48745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Up Arrow 9"/>
            <p:cNvSpPr/>
            <p:nvPr/>
          </p:nvSpPr>
          <p:spPr>
            <a:xfrm rot="10800000">
              <a:off x="4533813" y="5125710"/>
              <a:ext cx="331397" cy="48745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224362" y="3286164"/>
            <a:ext cx="4200893" cy="3492179"/>
            <a:chOff x="456594" y="1749112"/>
            <a:chExt cx="4141910" cy="3443146"/>
          </a:xfrm>
        </p:grpSpPr>
        <p:grpSp>
          <p:nvGrpSpPr>
            <p:cNvPr id="15" name="Group 14"/>
            <p:cNvGrpSpPr/>
            <p:nvPr/>
          </p:nvGrpSpPr>
          <p:grpSpPr>
            <a:xfrm>
              <a:off x="456594" y="1749112"/>
              <a:ext cx="4141910" cy="3443146"/>
              <a:chOff x="2709464" y="1629843"/>
              <a:chExt cx="4141910" cy="3443146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193774" y="1629843"/>
                <a:ext cx="0" cy="296866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193774" y="4598504"/>
                <a:ext cx="3657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 rot="16200000">
                <a:off x="2372897" y="2585037"/>
                <a:ext cx="104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mtClean="0"/>
                  <a:t>Force [N]</a:t>
                </a:r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501341" y="4703657"/>
                <a:ext cx="1843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Displacement [m]</a:t>
                </a:r>
                <a:endParaRPr lang="en-US" dirty="0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 flipV="1">
                <a:off x="3193774" y="2248470"/>
                <a:ext cx="3299791" cy="2350034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Left-Up Arrow 15"/>
            <p:cNvSpPr/>
            <p:nvPr/>
          </p:nvSpPr>
          <p:spPr>
            <a:xfrm rot="10800000">
              <a:off x="2447119" y="2796238"/>
              <a:ext cx="985194" cy="746518"/>
            </a:xfrm>
            <a:prstGeom prst="leftUpArrow">
              <a:avLst>
                <a:gd name="adj1" fmla="val 2482"/>
                <a:gd name="adj2" fmla="val 9023"/>
                <a:gd name="adj3" fmla="val 1079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78065" y="2464910"/>
              <a:ext cx="9012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slope,</a:t>
              </a:r>
              <a:r>
                <a:rPr lang="en-US" i="1" dirty="0" smtClean="0"/>
                <a:t> k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9726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k isn’t always constant</a:t>
            </a:r>
            <a:endParaRPr lang="en-US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Arial" charset="0"/>
                <a:ea typeface="Arial" charset="0"/>
                <a:cs typeface="Arial" charset="0"/>
              </a:rPr>
              <a:t>Hooke’s Law isn’t perfectly accurate for all forces, for all </a:t>
            </a:r>
            <a:r>
              <a:rPr lang="en-US" sz="2200" dirty="0" smtClean="0">
                <a:latin typeface="Arial" charset="0"/>
                <a:ea typeface="Arial" charset="0"/>
                <a:cs typeface="Arial" charset="0"/>
              </a:rPr>
              <a:t>materials</a:t>
            </a:r>
          </a:p>
          <a:p>
            <a:r>
              <a:rPr lang="en-US" sz="2200" dirty="0" smtClean="0">
                <a:latin typeface="Arial" charset="0"/>
                <a:ea typeface="Arial" charset="0"/>
                <a:cs typeface="Arial" charset="0"/>
              </a:rPr>
              <a:t>Many materials have “</a:t>
            </a:r>
            <a:r>
              <a:rPr lang="en-US" sz="2200" dirty="0" err="1" smtClean="0">
                <a:latin typeface="Arial" charset="0"/>
                <a:ea typeface="Arial" charset="0"/>
                <a:cs typeface="Arial" charset="0"/>
              </a:rPr>
              <a:t>Hookean</a:t>
            </a:r>
            <a:r>
              <a:rPr lang="en-US" sz="2200" dirty="0" smtClean="0">
                <a:latin typeface="Arial" charset="0"/>
                <a:ea typeface="Arial" charset="0"/>
                <a:cs typeface="Arial" charset="0"/>
              </a:rPr>
              <a:t>” (linearly elastic) and “non-</a:t>
            </a:r>
            <a:r>
              <a:rPr lang="en-US" sz="2200" dirty="0" err="1" smtClean="0">
                <a:latin typeface="Arial" charset="0"/>
                <a:ea typeface="Arial" charset="0"/>
                <a:cs typeface="Arial" charset="0"/>
              </a:rPr>
              <a:t>Hookean</a:t>
            </a:r>
            <a:r>
              <a:rPr lang="en-US" sz="2200" dirty="0">
                <a:latin typeface="Arial" charset="0"/>
                <a:ea typeface="Arial" charset="0"/>
                <a:cs typeface="Arial" charset="0"/>
              </a:rPr>
              <a:t>” </a:t>
            </a:r>
            <a:r>
              <a:rPr lang="en-US" sz="2200" dirty="0" smtClean="0">
                <a:latin typeface="Arial" charset="0"/>
                <a:ea typeface="Arial" charset="0"/>
                <a:cs typeface="Arial" charset="0"/>
              </a:rPr>
              <a:t>(not linearly </a:t>
            </a:r>
            <a:r>
              <a:rPr lang="en-US" sz="2200" dirty="0">
                <a:latin typeface="Arial" charset="0"/>
                <a:ea typeface="Arial" charset="0"/>
                <a:cs typeface="Arial" charset="0"/>
              </a:rPr>
              <a:t>elastic) </a:t>
            </a:r>
            <a:r>
              <a:rPr lang="en-US" sz="2200" dirty="0" smtClean="0">
                <a:latin typeface="Arial" charset="0"/>
                <a:ea typeface="Arial" charset="0"/>
                <a:cs typeface="Arial" charset="0"/>
              </a:rPr>
              <a:t>regimes</a:t>
            </a:r>
            <a:endParaRPr lang="en-US" sz="2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302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Some materials </a:t>
            </a:r>
            <a:r>
              <a:rPr lang="en-US" sz="3000" u="sng" dirty="0" smtClean="0">
                <a:latin typeface="Arial" charset="0"/>
                <a:ea typeface="Arial" charset="0"/>
                <a:cs typeface="Arial" charset="0"/>
              </a:rPr>
              <a:t>stiffen</a:t>
            </a:r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 when they’re deformed</a:t>
            </a:r>
            <a:endParaRPr lang="en-US" sz="3000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62969" y="2507999"/>
            <a:ext cx="5588128" cy="3380222"/>
            <a:chOff x="1597309" y="1377739"/>
            <a:chExt cx="5588128" cy="3380222"/>
          </a:xfrm>
        </p:grpSpPr>
        <p:sp>
          <p:nvSpPr>
            <p:cNvPr id="5" name="Can 4"/>
            <p:cNvSpPr/>
            <p:nvPr/>
          </p:nvSpPr>
          <p:spPr>
            <a:xfrm>
              <a:off x="1603513" y="3935895"/>
              <a:ext cx="3485322" cy="822066"/>
            </a:xfrm>
            <a:prstGeom prst="ca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riangle 5"/>
            <p:cNvSpPr/>
            <p:nvPr/>
          </p:nvSpPr>
          <p:spPr>
            <a:xfrm rot="10800000">
              <a:off x="1643269" y="3336416"/>
              <a:ext cx="3392557" cy="54118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n 6"/>
            <p:cNvSpPr/>
            <p:nvPr/>
          </p:nvSpPr>
          <p:spPr>
            <a:xfrm>
              <a:off x="1597309" y="3219205"/>
              <a:ext cx="3485322" cy="890554"/>
            </a:xfrm>
            <a:prstGeom prst="can">
              <a:avLst/>
            </a:prstGeom>
            <a:solidFill>
              <a:schemeClr val="accent6">
                <a:lumMod val="40000"/>
                <a:lumOff val="60000"/>
                <a:alpha val="32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an 7"/>
            <p:cNvSpPr/>
            <p:nvPr/>
          </p:nvSpPr>
          <p:spPr>
            <a:xfrm>
              <a:off x="1603513" y="2593862"/>
              <a:ext cx="3485322" cy="822066"/>
            </a:xfrm>
            <a:prstGeom prst="ca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n 8"/>
            <p:cNvSpPr/>
            <p:nvPr/>
          </p:nvSpPr>
          <p:spPr>
            <a:xfrm>
              <a:off x="3120887" y="1377739"/>
              <a:ext cx="450574" cy="1364974"/>
            </a:xfrm>
            <a:prstGeom prst="ca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rved Left Arrow 9"/>
            <p:cNvSpPr/>
            <p:nvPr/>
          </p:nvSpPr>
          <p:spPr>
            <a:xfrm>
              <a:off x="3627782" y="1709460"/>
              <a:ext cx="702365" cy="728869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79796" y="3877597"/>
              <a:ext cx="140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biological gel</a:t>
              </a:r>
              <a:endParaRPr lang="en-US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4824605" y="3756997"/>
              <a:ext cx="955191" cy="3052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413510" y="1841068"/>
              <a:ext cx="11926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cone-plate</a:t>
              </a:r>
            </a:p>
            <a:p>
              <a:pPr algn="ctr"/>
              <a:r>
                <a:rPr lang="en-US" dirty="0" smtClean="0"/>
                <a:t>rheometer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4474008" y="2164234"/>
              <a:ext cx="939502" cy="9111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058145" y="393346"/>
            <a:ext cx="6922608" cy="5820400"/>
            <a:chOff x="3327948" y="-622419"/>
            <a:chExt cx="6922608" cy="5820400"/>
          </a:xfrm>
        </p:grpSpPr>
        <p:grpSp>
          <p:nvGrpSpPr>
            <p:cNvPr id="16" name="Group 15"/>
            <p:cNvGrpSpPr/>
            <p:nvPr/>
          </p:nvGrpSpPr>
          <p:grpSpPr>
            <a:xfrm>
              <a:off x="6108646" y="1065896"/>
              <a:ext cx="4141910" cy="4132085"/>
              <a:chOff x="2709464" y="940904"/>
              <a:chExt cx="4141910" cy="4132085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193774" y="940904"/>
                <a:ext cx="0" cy="3657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193774" y="4598504"/>
                <a:ext cx="3657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 rot="16200000">
                <a:off x="2372897" y="2585037"/>
                <a:ext cx="104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mtClean="0"/>
                  <a:t>Force [N]</a:t>
                </a:r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501341" y="4703657"/>
                <a:ext cx="1843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Displacement [m]</a:t>
                </a:r>
                <a:endParaRPr lang="en-US" dirty="0"/>
              </a:p>
            </p:txBody>
          </p:sp>
        </p:grpSp>
        <p:sp>
          <p:nvSpPr>
            <p:cNvPr id="17" name="Arc 16"/>
            <p:cNvSpPr/>
            <p:nvPr/>
          </p:nvSpPr>
          <p:spPr>
            <a:xfrm rot="5400000">
              <a:off x="3929270" y="-1223741"/>
              <a:ext cx="5327372" cy="6530016"/>
            </a:xfrm>
            <a:prstGeom prst="arc">
              <a:avLst>
                <a:gd name="adj1" fmla="val 17015406"/>
                <a:gd name="adj2" fmla="val 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>
          <a:xfrm rot="19763775">
            <a:off x="8323562" y="4771406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k </a:t>
            </a:r>
            <a:r>
              <a:rPr lang="en-US" smtClean="0">
                <a:latin typeface="Arial" charset="0"/>
                <a:ea typeface="Arial" charset="0"/>
                <a:cs typeface="Arial" charset="0"/>
              </a:rPr>
              <a:t>is increasing</a:t>
            </a:r>
            <a:endParaRPr lang="en-US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86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720840" y="2160121"/>
            <a:ext cx="6191250" cy="6163992"/>
            <a:chOff x="6108646" y="807294"/>
            <a:chExt cx="6987512" cy="6956748"/>
          </a:xfrm>
        </p:grpSpPr>
        <p:grpSp>
          <p:nvGrpSpPr>
            <p:cNvPr id="5" name="Group 4"/>
            <p:cNvGrpSpPr/>
            <p:nvPr/>
          </p:nvGrpSpPr>
          <p:grpSpPr>
            <a:xfrm>
              <a:off x="6108646" y="1065896"/>
              <a:ext cx="4141910" cy="4132085"/>
              <a:chOff x="2709464" y="940904"/>
              <a:chExt cx="4141910" cy="4132085"/>
            </a:xfrm>
          </p:grpSpPr>
          <p:cxnSp>
            <p:nvCxnSpPr>
              <p:cNvPr id="10" name="Straight Connector 9"/>
              <p:cNvCxnSpPr/>
              <p:nvPr/>
            </p:nvCxnSpPr>
            <p:spPr>
              <a:xfrm>
                <a:off x="3193774" y="940904"/>
                <a:ext cx="0" cy="3657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193774" y="4598504"/>
                <a:ext cx="3657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 rot="16200000">
                <a:off x="2372897" y="2585037"/>
                <a:ext cx="104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mtClean="0"/>
                  <a:t>Force [N]</a:t>
                </a:r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501341" y="4703657"/>
                <a:ext cx="1843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Displacement [m]</a:t>
                </a:r>
                <a:endParaRPr lang="en-US" dirty="0"/>
              </a:p>
            </p:txBody>
          </p:sp>
        </p:grpSp>
        <p:sp>
          <p:nvSpPr>
            <p:cNvPr id="6" name="Arc 5"/>
            <p:cNvSpPr/>
            <p:nvPr/>
          </p:nvSpPr>
          <p:spPr>
            <a:xfrm rot="15995345">
              <a:off x="7167464" y="1835348"/>
              <a:ext cx="5327372" cy="6530016"/>
            </a:xfrm>
            <a:prstGeom prst="arc">
              <a:avLst>
                <a:gd name="adj1" fmla="val 16809151"/>
                <a:gd name="adj2" fmla="val 2140974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9499169" y="2439620"/>
              <a:ext cx="42396" cy="227815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9125386" y="1176626"/>
              <a:ext cx="1715019" cy="119683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0449593" y="807294"/>
              <a:ext cx="781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failure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728058" y="1931543"/>
            <a:ext cx="3661065" cy="4692406"/>
            <a:chOff x="1441274" y="767978"/>
            <a:chExt cx="4131917" cy="529590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830"/>
            <a:stretch/>
          </p:blipFill>
          <p:spPr>
            <a:xfrm>
              <a:off x="1441274" y="767978"/>
              <a:ext cx="4131917" cy="5295900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/>
            <p:nvPr/>
          </p:nvCxnSpPr>
          <p:spPr>
            <a:xfrm flipH="1">
              <a:off x="3881016" y="3514832"/>
              <a:ext cx="1265048" cy="109318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755251" y="3145500"/>
              <a:ext cx="781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failure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8" name="Up Arrow 17"/>
            <p:cNvSpPr/>
            <p:nvPr/>
          </p:nvSpPr>
          <p:spPr>
            <a:xfrm>
              <a:off x="3383170" y="1362986"/>
              <a:ext cx="331397" cy="487456"/>
            </a:xfrm>
            <a:prstGeom prst="up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 Arrow 18"/>
            <p:cNvSpPr/>
            <p:nvPr/>
          </p:nvSpPr>
          <p:spPr>
            <a:xfrm rot="10800000">
              <a:off x="3341533" y="5549918"/>
              <a:ext cx="331397" cy="487456"/>
            </a:xfrm>
            <a:prstGeom prst="up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Some materials </a:t>
            </a:r>
            <a:r>
              <a:rPr lang="en-US" sz="3000" u="sng" dirty="0" smtClean="0">
                <a:latin typeface="Arial" charset="0"/>
                <a:ea typeface="Arial" charset="0"/>
                <a:cs typeface="Arial" charset="0"/>
              </a:rPr>
              <a:t>weaken</a:t>
            </a:r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 when they’re deformed</a:t>
            </a:r>
            <a:endParaRPr lang="en-US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 rot="19763775">
            <a:off x="7431504" y="367505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k is decreasing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6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4010" cy="1325563"/>
          </a:xfrm>
        </p:spPr>
        <p:txBody>
          <a:bodyPr>
            <a:normAutofit/>
          </a:bodyPr>
          <a:lstStyle/>
          <a:p>
            <a:r>
              <a:rPr lang="en-US" sz="3000" u="sng" dirty="0" smtClean="0">
                <a:latin typeface="Arial" charset="0"/>
                <a:ea typeface="Arial" charset="0"/>
                <a:cs typeface="Arial" charset="0"/>
              </a:rPr>
              <a:t>Regime of Validity</a:t>
            </a:r>
            <a:r>
              <a:rPr lang="en-US" sz="3000" dirty="0" smtClean="0">
                <a:latin typeface="Arial" charset="0"/>
                <a:ea typeface="Arial" charset="0"/>
                <a:cs typeface="Arial" charset="0"/>
              </a:rPr>
              <a:t>: A subset of the material’s behavior may be linearly elastic</a:t>
            </a:r>
            <a:endParaRPr lang="en-US" sz="3000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98304" y="2355714"/>
            <a:ext cx="9137270" cy="6654547"/>
            <a:chOff x="1767340" y="2400684"/>
            <a:chExt cx="9137270" cy="6654547"/>
          </a:xfrm>
        </p:grpSpPr>
        <p:grpSp>
          <p:nvGrpSpPr>
            <p:cNvPr id="4" name="Group 3"/>
            <p:cNvGrpSpPr/>
            <p:nvPr/>
          </p:nvGrpSpPr>
          <p:grpSpPr>
            <a:xfrm>
              <a:off x="1767340" y="2400684"/>
              <a:ext cx="9137270" cy="6654547"/>
              <a:chOff x="6108646" y="1065896"/>
              <a:chExt cx="10312423" cy="7510392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108646" y="1065896"/>
                <a:ext cx="4141910" cy="4132085"/>
                <a:chOff x="2709464" y="940904"/>
                <a:chExt cx="4141910" cy="4132085"/>
              </a:xfrm>
            </p:grpSpPr>
            <p:cxnSp>
              <p:nvCxnSpPr>
                <p:cNvPr id="10" name="Straight Connector 9"/>
                <p:cNvCxnSpPr/>
                <p:nvPr/>
              </p:nvCxnSpPr>
              <p:spPr>
                <a:xfrm>
                  <a:off x="3193774" y="940904"/>
                  <a:ext cx="0" cy="3657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3193774" y="4598504"/>
                  <a:ext cx="36576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/>
                <p:cNvSpPr txBox="1"/>
                <p:nvPr/>
              </p:nvSpPr>
              <p:spPr>
                <a:xfrm rot="16200000">
                  <a:off x="2372897" y="2585037"/>
                  <a:ext cx="10424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mtClean="0"/>
                    <a:t>Force [N]</a:t>
                  </a:r>
                  <a:endParaRPr lang="en-US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4501341" y="4703657"/>
                  <a:ext cx="184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Displacement [m]</a:t>
                  </a:r>
                  <a:endParaRPr lang="en-US" dirty="0"/>
                </a:p>
              </p:txBody>
            </p:sp>
          </p:grpSp>
          <p:sp>
            <p:nvSpPr>
              <p:cNvPr id="6" name="Arc 5"/>
              <p:cNvSpPr/>
              <p:nvPr/>
            </p:nvSpPr>
            <p:spPr>
              <a:xfrm rot="15978439">
                <a:off x="8175523" y="330742"/>
                <a:ext cx="6626202" cy="9864890"/>
              </a:xfrm>
              <a:prstGeom prst="arc">
                <a:avLst>
                  <a:gd name="adj1" fmla="val 16809151"/>
                  <a:gd name="adj2" fmla="val 20981052"/>
                </a:avLst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 flipV="1">
              <a:off x="2196460" y="4841823"/>
              <a:ext cx="411829" cy="799661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180799" y="2355714"/>
            <a:ext cx="3669918" cy="3661214"/>
            <a:chOff x="2709464" y="940904"/>
            <a:chExt cx="4141910" cy="4132085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3193774" y="940904"/>
              <a:ext cx="0" cy="3657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193774" y="4598504"/>
              <a:ext cx="3657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 rot="16200000">
              <a:off x="2372897" y="2585037"/>
              <a:ext cx="1042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Force [N]</a:t>
              </a:r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01341" y="4703657"/>
              <a:ext cx="1843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Displacement [m]</a:t>
              </a:r>
              <a:endParaRPr lang="en-US" dirty="0"/>
            </a:p>
          </p:txBody>
        </p:sp>
      </p:grpSp>
      <p:cxnSp>
        <p:nvCxnSpPr>
          <p:cNvPr id="22" name="Straight Connector 21"/>
          <p:cNvCxnSpPr/>
          <p:nvPr/>
        </p:nvCxnSpPr>
        <p:spPr>
          <a:xfrm flipV="1">
            <a:off x="5005291" y="4529029"/>
            <a:ext cx="763191" cy="63767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7816968" y="2355714"/>
            <a:ext cx="3669918" cy="3661214"/>
            <a:chOff x="2709464" y="940904"/>
            <a:chExt cx="4141910" cy="4132085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3193774" y="940904"/>
              <a:ext cx="0" cy="3657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193774" y="4598504"/>
              <a:ext cx="3657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 rot="16200000">
              <a:off x="2372897" y="2585037"/>
              <a:ext cx="1042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Force [N]</a:t>
              </a:r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01341" y="4703657"/>
              <a:ext cx="1843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Displacement [m]</a:t>
              </a:r>
              <a:endParaRPr lang="en-US" dirty="0"/>
            </a:p>
          </p:txBody>
        </p:sp>
      </p:grpSp>
      <p:cxnSp>
        <p:nvCxnSpPr>
          <p:cNvPr id="31" name="Straight Connector 30"/>
          <p:cNvCxnSpPr/>
          <p:nvPr/>
        </p:nvCxnSpPr>
        <p:spPr>
          <a:xfrm flipV="1">
            <a:off x="9225535" y="3822493"/>
            <a:ext cx="1432472" cy="38782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4641597" y="2845685"/>
            <a:ext cx="2958416" cy="2729257"/>
          </a:xfrm>
          <a:custGeom>
            <a:avLst/>
            <a:gdLst>
              <a:gd name="connsiteX0" fmla="*/ 0 w 3887038"/>
              <a:gd name="connsiteY0" fmla="*/ 2729257 h 2729257"/>
              <a:gd name="connsiteX1" fmla="*/ 1678898 w 3887038"/>
              <a:gd name="connsiteY1" fmla="*/ 1664955 h 2729257"/>
              <a:gd name="connsiteX2" fmla="*/ 2368446 w 3887038"/>
              <a:gd name="connsiteY2" fmla="*/ 1829847 h 2729257"/>
              <a:gd name="connsiteX3" fmla="*/ 3777521 w 3887038"/>
              <a:gd name="connsiteY3" fmla="*/ 135958 h 2729257"/>
              <a:gd name="connsiteX4" fmla="*/ 3792511 w 3887038"/>
              <a:gd name="connsiteY4" fmla="*/ 105978 h 272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87038" h="2729257">
                <a:moveTo>
                  <a:pt x="0" y="2729257"/>
                </a:moveTo>
                <a:cubicBezTo>
                  <a:pt x="642078" y="2272057"/>
                  <a:pt x="1284157" y="1814857"/>
                  <a:pt x="1678898" y="1664955"/>
                </a:cubicBezTo>
                <a:cubicBezTo>
                  <a:pt x="2073639" y="1515053"/>
                  <a:pt x="2018675" y="2084680"/>
                  <a:pt x="2368446" y="1829847"/>
                </a:cubicBezTo>
                <a:cubicBezTo>
                  <a:pt x="2718217" y="1575014"/>
                  <a:pt x="3540177" y="423270"/>
                  <a:pt x="3777521" y="135958"/>
                </a:cubicBezTo>
                <a:cubicBezTo>
                  <a:pt x="4014865" y="-151354"/>
                  <a:pt x="3792511" y="105978"/>
                  <a:pt x="3792511" y="105978"/>
                </a:cubicBezTo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6645076" y="2863769"/>
            <a:ext cx="888943" cy="148226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8242544" y="2983043"/>
            <a:ext cx="3365938" cy="2578308"/>
          </a:xfrm>
          <a:custGeom>
            <a:avLst/>
            <a:gdLst>
              <a:gd name="connsiteX0" fmla="*/ 17036 w 3365938"/>
              <a:gd name="connsiteY0" fmla="*/ 4000891 h 4000891"/>
              <a:gd name="connsiteX1" fmla="*/ 391790 w 3365938"/>
              <a:gd name="connsiteY1" fmla="*/ 2351973 h 4000891"/>
              <a:gd name="connsiteX2" fmla="*/ 2655305 w 3365938"/>
              <a:gd name="connsiteY2" fmla="*/ 1212720 h 4000891"/>
              <a:gd name="connsiteX3" fmla="*/ 3299882 w 3365938"/>
              <a:gd name="connsiteY3" fmla="*/ 88458 h 4000891"/>
              <a:gd name="connsiteX4" fmla="*/ 3344853 w 3365938"/>
              <a:gd name="connsiteY4" fmla="*/ 73468 h 400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5938" h="4000891">
                <a:moveTo>
                  <a:pt x="17036" y="4000891"/>
                </a:moveTo>
                <a:cubicBezTo>
                  <a:pt x="-15443" y="3408779"/>
                  <a:pt x="-47921" y="2816668"/>
                  <a:pt x="391790" y="2351973"/>
                </a:cubicBezTo>
                <a:cubicBezTo>
                  <a:pt x="831501" y="1887278"/>
                  <a:pt x="2170623" y="1589972"/>
                  <a:pt x="2655305" y="1212720"/>
                </a:cubicBezTo>
                <a:cubicBezTo>
                  <a:pt x="3139987" y="835468"/>
                  <a:pt x="3184957" y="278333"/>
                  <a:pt x="3299882" y="88458"/>
                </a:cubicBezTo>
                <a:cubicBezTo>
                  <a:pt x="3414807" y="-101417"/>
                  <a:pt x="3344853" y="73468"/>
                  <a:pt x="3344853" y="73468"/>
                </a:cubicBezTo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9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Lab Goals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Explore the elastic behavior of a material of your choice</a:t>
            </a:r>
          </a:p>
          <a:p>
            <a:pPr lvl="1"/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Search for linear and non-linear elastic regimes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mtClean="0">
                <a:latin typeface="Arial" charset="0"/>
                <a:ea typeface="Arial" charset="0"/>
                <a:cs typeface="Arial" charset="0"/>
              </a:rPr>
              <a:t>Quantify k and its uncertainty precisely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7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4596" y="3278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Part 1 findings</a:t>
            </a:r>
            <a:endParaRPr lang="en-US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4439" y="1737938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L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inearly elastic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96197" y="3725139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N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ot linearly elastic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9310" y="569138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M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ixture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453170" y="1430506"/>
            <a:ext cx="1937084" cy="35178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453170" y="2057712"/>
            <a:ext cx="1891291" cy="37542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3"/>
          </p:cNvCxnSpPr>
          <p:nvPr/>
        </p:nvCxnSpPr>
        <p:spPr>
          <a:xfrm>
            <a:off x="4455164" y="1922604"/>
            <a:ext cx="1836706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442265" y="3430459"/>
            <a:ext cx="1937084" cy="35178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42265" y="4057665"/>
            <a:ext cx="2025219" cy="38985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442265" y="3925596"/>
            <a:ext cx="2025219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4332427" y="5380913"/>
            <a:ext cx="1937084" cy="35178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332427" y="6008119"/>
            <a:ext cx="2025219" cy="38985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332427" y="5876050"/>
            <a:ext cx="2025219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93530" y="327848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Part 2 Experiment</a:t>
            </a:r>
            <a:endParaRPr lang="en-US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59986" y="1182131"/>
            <a:ext cx="217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est a new material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59986" y="1751587"/>
            <a:ext cx="329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est a different range of forces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59986" y="2265250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I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ncrease the precision of k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59986" y="3219689"/>
            <a:ext cx="217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est a new material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59986" y="3748615"/>
            <a:ext cx="329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est a different range of forces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59986" y="4262278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Investigate a subset of forces more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closely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59986" y="5176187"/>
            <a:ext cx="444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Investigate the linear regime more closely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59986" y="5745643"/>
            <a:ext cx="4826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Investigate the nonlinear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regime more closely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59986" y="6259306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Examine the transition more closely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84255" y="1779986"/>
            <a:ext cx="101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/>
              <a:t>Option 1</a:t>
            </a:r>
            <a:endParaRPr lang="en-US" b="1"/>
          </a:p>
        </p:txBody>
      </p:sp>
      <p:sp>
        <p:nvSpPr>
          <p:cNvPr id="42" name="TextBox 41"/>
          <p:cNvSpPr txBox="1"/>
          <p:nvPr/>
        </p:nvSpPr>
        <p:spPr>
          <a:xfrm>
            <a:off x="1184255" y="3774284"/>
            <a:ext cx="101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Option 2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1184255" y="5735433"/>
            <a:ext cx="101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Option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9810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257</Words>
  <Application>Microsoft Macintosh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Cambria Math</vt:lpstr>
      <vt:lpstr>Arial</vt:lpstr>
      <vt:lpstr>Office Theme</vt:lpstr>
      <vt:lpstr>Hooke’s Law Lab Intro</vt:lpstr>
      <vt:lpstr>Hooke’s Law</vt:lpstr>
      <vt:lpstr>k isn’t always constant</vt:lpstr>
      <vt:lpstr>Some materials stiffen when they’re deformed</vt:lpstr>
      <vt:lpstr>Some materials weaken when they’re deformed</vt:lpstr>
      <vt:lpstr>Regime of Validity: A subset of the material’s behavior may be linearly elastic</vt:lpstr>
      <vt:lpstr>Lab Goals</vt:lpstr>
      <vt:lpstr>PowerPoint Presentation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Hooke’s Law Intro</dc:title>
  <dc:creator>Hunt, Emma K</dc:creator>
  <cp:lastModifiedBy>Hunt, Emma K</cp:lastModifiedBy>
  <cp:revision>23</cp:revision>
  <dcterms:created xsi:type="dcterms:W3CDTF">2023-10-12T18:25:38Z</dcterms:created>
  <dcterms:modified xsi:type="dcterms:W3CDTF">2023-10-19T20:02:43Z</dcterms:modified>
</cp:coreProperties>
</file>